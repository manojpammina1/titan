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33375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0400000"/>
          </a:gradFill>
          <a:ln>
            <a:noFill/>
          </a:ln>
          <a:effectLst>
            <a:outerShdw blurRad="201168" dist="73152" dir="5400000" rotWithShape="0">
              <a:srgbClr val="1B3A4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7A45"/>
                </a:solidFill>
                <a:latin typeface="Segoe UI Semibold"/>
              </a:rPr>
              <a:t>PRINCIPAL ENGINEER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9875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2000"/>
              </a:lnSpc>
            </a:pPr>
            <a:r>
              <a:rPr sz="4200" b="1">
                <a:solidFill>
                  <a:srgbClr val="FFFFFF"/>
                </a:solidFill>
                <a:latin typeface="Segoe UI Semibold"/>
              </a:rPr>
              <a:t>Enabling Agentic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8F4FC"/>
                </a:solidFill>
                <a:latin typeface="Segoe UI"/>
              </a:rPr>
              <a:t>30 / 60 / 90 roadmap for a SOX-regulated e-commerce engineering 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1605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4C73"/>
                </a:solidFill>
                <a:latin typeface="Segoe UI"/>
              </a:rPr>
              <a:t>12 slides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1605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4C73"/>
                </a:solidFill>
                <a:latin typeface="Segoe UI"/>
              </a:rPr>
              <a:t>Live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1605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4C73"/>
                </a:solidFill>
                <a:latin typeface="Segoe UI"/>
              </a:rPr>
              <a:t>SOX evidence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 Semibold"/>
              </a:rPr>
              <a:t>Royal Caribbean Group  ·  Manoj Pammina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Thesis — agents are untrusted workers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Model interprets; deterministic tools own every commerce value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Nothing touches money, inventory, or controls without human authority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Assumption: existing React/AEM/GraphQL/AWS + SOX process stays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1-cruise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Why now — govern or explain in an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Assistants are already in use — uneven skill, no shared record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Shadow AI is a compliance risk before it is a quality risk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First 30 days buy control and a baseline, not raw velocity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2-credential-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Tooling standard — policy layer, not editor mandate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Floor: one sanctioned assistant under enterprise agreement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Overlay: same protected paths, scans, telemetry on every agent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Runtime: model gateway on AWS — no vendor keys in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3-enforcement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30 / 60 / 90 — three pillars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Each horizon moves adoption, SDLC, and product together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Explicit exit gate at every boundary — evidence or kill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Pick one enthusiastic team and one skeptical team on 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4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20756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 — 1/2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005072"/>
            <a:ext cx="7178040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-04-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4087368"/>
            <a:ext cx="7013448" cy="207568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73752" y="38221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 — 2/2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SDLC — what AI may and may not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AI may draft; it may not approve, merge, deploy, or take payment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Review: specialist first pass + adversarial verification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Human accountable at every gate — especially in SOX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5-answer-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Safety, SOX, IP — live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One protected-paths.json → pre-commit block + CI evidence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Preventive: hook rejects revenue-relevant commit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Detective: sox-evidence.py catches --no-verify · SCM + CI = system of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6-sox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Measurement — refuse to fake a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Adoption + rework ratio + cost per merged PR — not self-reported speedup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Safety panel: not instrumented — enforcement real, telemetry pending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Guest agent: binary gates — zero hallucinated prices, no oversell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7-tita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20756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 — 1/2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005072"/>
            <a:ext cx="7178040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-07-vi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4087368"/>
            <a:ext cx="7013448" cy="207568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73752" y="38221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 — 2/2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Worked example — cruise planner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Orchestration layer, not a chatbot — typed tool schemas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Evidence objects carry price, availability, validity window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Auth at commitment boundary; checkout owns payment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8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Evaluate and operate — gate, not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10 golden + 8 red-team cases — non-zero exit blocks merge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Model off → same options (degraded, not down)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Concurrent holds cannot oversell finite 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09-eval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Enablement — policy and pairing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Champions pair with skeptics; skeptics own guardrails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EMs get leadership view — is the investment sticking?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Open with blocked secrets and rework cost, not a model bake-off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10-enab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Risks and kill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Pause expansion if change-fail rises, secret leaks, review degrades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Kill guest feature if eval fails, hold oversells, or cost cap blown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03  </a:t>
            </a:r>
            <a:r>
              <a:rPr sz="1500" b="0">
                <a:solidFill>
                  <a:srgbClr val="334155"/>
                </a:solidFill>
                <a:latin typeface="Segoe UI"/>
              </a:rPr>
              <a:t>Trade-off: slower first 30 days for an audit trail you can defend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11-kill-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7FB"/>
              </a:gs>
            </a:gsLst>
            <a:lin scaled="0" ang="14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FF7A45"/>
              </a:gs>
              <a:gs pos="100000">
                <a:srgbClr val="0096C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92608"/>
            <a:ext cx="11460175" cy="93268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04C73"/>
              </a:gs>
              <a:gs pos="100000">
                <a:srgbClr val="0096C7"/>
              </a:gs>
            </a:gsLst>
            <a:lin scaled="0" ang="21120000"/>
          </a:gradFill>
          <a:ln>
            <a:noFill/>
          </a:ln>
          <a:effectLst>
            <a:outerShdw blurRad="128016" dist="45720" dir="5400000" rotWithShape="0">
              <a:srgbClr val="1B3A4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438912"/>
            <a:ext cx="658368" cy="65836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84048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 Semibold"/>
              </a:rPr>
              <a:t>The 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457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4C73"/>
                </a:solidFill>
                <a:latin typeface="Segoe UI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" cy="470916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37033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01  </a:t>
            </a:r>
            <a:r>
              <a:rPr sz="1500" b="0">
                <a:solidFill>
                  <a:srgbClr val="334155"/>
                </a:solidFill>
                <a:latin typeface="Segoe UI"/>
              </a:rPr>
              <a:t>Pilot mandate · Security/Legal/Audit time · Day-90 decision forum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096C7"/>
                </a:solidFill>
                <a:latin typeface="Segoe UI Semibold"/>
              </a:rPr>
              <a:t>02  </a:t>
            </a:r>
            <a:r>
              <a:rPr sz="1500" b="0">
                <a:solidFill>
                  <a:srgbClr val="334155"/>
                </a:solidFill>
                <a:latin typeface="Segoe UI"/>
              </a:rPr>
              <a:t>Transferable asset: operating model, not the cruise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3112" cy="12700"/>
          </a:xfrm>
          <a:prstGeom prst="rect">
            <a:avLst/>
          </a:prstGeom>
          <a:solidFill>
            <a:srgbClr val="D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0652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Segoe UI"/>
              </a:rPr>
              <a:t>RCG Principal Engineer  ·  Part 2  ·  Agentic Development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36192"/>
            <a:ext cx="717804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CF7"/>
            </a:solidFill>
          </a:ln>
          <a:effectLst>
            <a:outerShdw blurRad="146304" dist="54864" dir="5400000" rotWithShape="0">
              <a:srgbClr val="1B3A4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12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618488"/>
            <a:ext cx="7013448" cy="4544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73752" y="1353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LIVE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