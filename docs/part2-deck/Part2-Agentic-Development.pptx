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C"/>
              </a:gs>
            </a:gsLst>
            <a:lin scaled="0" ang="150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gradFill rotWithShape="1">
            <a:gsLst>
              <a:gs pos="0">
                <a:srgbClr val="90E0EF"/>
              </a:gs>
              <a:gs pos="100000">
                <a:srgbClr val="E8F4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FF7A45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2191695" cy="2926080"/>
          </a:xfrm>
          <a:prstGeom prst="rect">
            <a:avLst/>
          </a:prstGeom>
          <a:gradFill rotWithShape="1">
            <a:gsLst>
              <a:gs pos="0">
                <a:srgbClr val="005F8C"/>
              </a:gs>
              <a:gs pos="100000">
                <a:srgbClr val="0096C7"/>
              </a:gs>
            </a:gsLst>
            <a:lin scaled="0" ang="20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0A3D5C"/>
                </a:solidFill>
                <a:latin typeface="Calibri"/>
              </a:rPr>
              <a:t>Enabling Agentic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005F8C"/>
                </a:solidFill>
                <a:latin typeface="Calibri"/>
              </a:rPr>
              <a:t>30 / 60 / 90 roadmap · SOX-regulated e-commerce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4748B"/>
                </a:solidFill>
                <a:latin typeface="Calibri"/>
              </a:rPr>
              <a:t>Principal Engineer case study · Royal Caribbean Group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C"/>
              </a:gs>
            </a:gsLst>
            <a:lin scaled="0" ang="150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gradFill rotWithShape="1">
            <a:gsLst>
              <a:gs pos="0">
                <a:srgbClr val="90E0EF"/>
              </a:gs>
              <a:gs pos="100000">
                <a:srgbClr val="E8F4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FF7A45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91695" cy="960120"/>
          </a:xfrm>
          <a:prstGeom prst="rect">
            <a:avLst/>
          </a:prstGeom>
          <a:gradFill rotWithShape="1">
            <a:gsLst>
              <a:gs pos="0">
                <a:srgbClr val="005F8C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Thesis — agents are untrusted workers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35640" y="320040"/>
            <a:ext cx="960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Model interprets; deterministic tools own every commerce value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Nothing touches money, inventory, or controls without human authority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Assumption: existing React/AEM/GraphQL/AWS + SOX process stays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RCG Principal Engineer · Part 2 · Agentic Development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325880"/>
            <a:ext cx="7178040" cy="4892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-01-cruise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9032"/>
            <a:ext cx="7031736" cy="4745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C"/>
              </a:gs>
            </a:gsLst>
            <a:lin scaled="0" ang="150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gradFill rotWithShape="1">
            <a:gsLst>
              <a:gs pos="0">
                <a:srgbClr val="90E0EF"/>
              </a:gs>
              <a:gs pos="100000">
                <a:srgbClr val="E8F4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FF7A45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91695" cy="960120"/>
          </a:xfrm>
          <a:prstGeom prst="rect">
            <a:avLst/>
          </a:prstGeom>
          <a:gradFill rotWithShape="1">
            <a:gsLst>
              <a:gs pos="0">
                <a:srgbClr val="005F8C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Why now — govern or explain in an audit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35640" y="320040"/>
            <a:ext cx="960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Assistants are already in use — uneven skill, no shared record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Shadow AI is a compliance risk before it is a quality risk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First 30 days buy control and a baseline, not raw velocity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RCG Principal Engineer · Part 2 · Agentic Development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325880"/>
            <a:ext cx="7178040" cy="4892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-02-credential-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9032"/>
            <a:ext cx="7031736" cy="4745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C"/>
              </a:gs>
            </a:gsLst>
            <a:lin scaled="0" ang="150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gradFill rotWithShape="1">
            <a:gsLst>
              <a:gs pos="0">
                <a:srgbClr val="90E0EF"/>
              </a:gs>
              <a:gs pos="100000">
                <a:srgbClr val="E8F4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FF7A45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91695" cy="960120"/>
          </a:xfrm>
          <a:prstGeom prst="rect">
            <a:avLst/>
          </a:prstGeom>
          <a:gradFill rotWithShape="1">
            <a:gsLst>
              <a:gs pos="0">
                <a:srgbClr val="005F8C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Tooling standard — policy layer, not editor mandate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35640" y="320040"/>
            <a:ext cx="960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Floor: one sanctioned assistant under enterprise agreement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Overlay: same protected paths, scans, telemetry on every agent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Runtime: model gateway on AWS — no vendor keys in apps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RCG Principal Engineer · Part 2 · Agentic Development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325880"/>
            <a:ext cx="7178040" cy="4892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-03-enforcement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9032"/>
            <a:ext cx="7031736" cy="4745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C"/>
              </a:gs>
            </a:gsLst>
            <a:lin scaled="0" ang="150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gradFill rotWithShape="1">
            <a:gsLst>
              <a:gs pos="0">
                <a:srgbClr val="90E0EF"/>
              </a:gs>
              <a:gs pos="100000">
                <a:srgbClr val="E8F4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FF7A45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91695" cy="960120"/>
          </a:xfrm>
          <a:prstGeom prst="rect">
            <a:avLst/>
          </a:prstGeom>
          <a:gradFill rotWithShape="1">
            <a:gsLst>
              <a:gs pos="0">
                <a:srgbClr val="005F8C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30 / 60 / 90 — three pillars in parallel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35640" y="320040"/>
            <a:ext cx="960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Each horizon moves adoption, SDLC, and product together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Explicit exit gate at every boundary — evidence or kill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Pick one enthusiastic team and one skeptical team on purpose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RCG Principal Engineer · Part 2 · Agentic Development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325880"/>
            <a:ext cx="7178040" cy="23591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-04-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9032"/>
            <a:ext cx="7031736" cy="221284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709160" y="3849624"/>
            <a:ext cx="7178040" cy="23591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lide-04-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3922776"/>
            <a:ext cx="7031736" cy="22128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C"/>
              </a:gs>
            </a:gsLst>
            <a:lin scaled="0" ang="150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gradFill rotWithShape="1">
            <a:gsLst>
              <a:gs pos="0">
                <a:srgbClr val="90E0EF"/>
              </a:gs>
              <a:gs pos="100000">
                <a:srgbClr val="E8F4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FF7A45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91695" cy="960120"/>
          </a:xfrm>
          <a:prstGeom prst="rect">
            <a:avLst/>
          </a:prstGeom>
          <a:gradFill rotWithShape="1">
            <a:gsLst>
              <a:gs pos="0">
                <a:srgbClr val="005F8C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SDLC — what AI may and may not 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35640" y="320040"/>
            <a:ext cx="960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AI may draft; it may not approve, merge, deploy, or take payment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Review: specialist first pass + adversarial verification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Human accountable at every gate — especially in SOX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RCG Principal Engineer · Part 2 · Agentic Development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325880"/>
            <a:ext cx="7178040" cy="4892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-05-answer-ca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9032"/>
            <a:ext cx="7031736" cy="4745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C"/>
              </a:gs>
            </a:gsLst>
            <a:lin scaled="0" ang="150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gradFill rotWithShape="1">
            <a:gsLst>
              <a:gs pos="0">
                <a:srgbClr val="90E0EF"/>
              </a:gs>
              <a:gs pos="100000">
                <a:srgbClr val="E8F4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FF7A45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91695" cy="960120"/>
          </a:xfrm>
          <a:prstGeom prst="rect">
            <a:avLst/>
          </a:prstGeom>
          <a:gradFill rotWithShape="1">
            <a:gsLst>
              <a:gs pos="0">
                <a:srgbClr val="005F8C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Safety, SOX, IP — live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35640" y="320040"/>
            <a:ext cx="960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One protected-paths.json → pre-commit block + CI evidence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Preventive: hook rejects revenue-relevant commit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Detective: sox-evidence.py catches --no-verify · SCM + CI = system of record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RCG Principal Engineer · Part 2 · Agentic Development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325880"/>
            <a:ext cx="7178040" cy="4892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-06-sox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9032"/>
            <a:ext cx="7031736" cy="47457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C"/>
              </a:gs>
            </a:gsLst>
            <a:lin scaled="0" ang="150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gradFill rotWithShape="1">
            <a:gsLst>
              <a:gs pos="0">
                <a:srgbClr val="90E0EF"/>
              </a:gs>
              <a:gs pos="100000">
                <a:srgbClr val="E8F4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FF7A45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91695" cy="960120"/>
          </a:xfrm>
          <a:prstGeom prst="rect">
            <a:avLst/>
          </a:prstGeom>
          <a:gradFill rotWithShape="1">
            <a:gsLst>
              <a:gs pos="0">
                <a:srgbClr val="005F8C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Measurement — refuse to fake a number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35640" y="320040"/>
            <a:ext cx="960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7/12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Adoption + rework ratio + cost per merged PR — not self-reported speedup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Safety panel: not instrumented — enforcement real, telemetry pending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Guest agent: binary gates — zero hallucinated prices, no oversell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RCG Principal Engineer · Part 2 · Agentic Development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325880"/>
            <a:ext cx="7178040" cy="23591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-07-tita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9032"/>
            <a:ext cx="7031736" cy="221284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709160" y="3849624"/>
            <a:ext cx="7178040" cy="23591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lide-07-vi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3922776"/>
            <a:ext cx="7031736" cy="22128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C"/>
              </a:gs>
            </a:gsLst>
            <a:lin scaled="0" ang="150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gradFill rotWithShape="1">
            <a:gsLst>
              <a:gs pos="0">
                <a:srgbClr val="90E0EF"/>
              </a:gs>
              <a:gs pos="100000">
                <a:srgbClr val="E8F4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FF7A45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91695" cy="960120"/>
          </a:xfrm>
          <a:prstGeom prst="rect">
            <a:avLst/>
          </a:prstGeom>
          <a:gradFill rotWithShape="1">
            <a:gsLst>
              <a:gs pos="0">
                <a:srgbClr val="005F8C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Worked example — cruise planner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35640" y="320040"/>
            <a:ext cx="960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8/12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Orchestration layer, not a chatbot — typed tool schemas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Evidence objects carry price, availability, validity window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Auth at commitment boundary; checkout owns payment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RCG Principal Engineer · Part 2 · Agentic Development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325880"/>
            <a:ext cx="7178040" cy="4892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-08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9032"/>
            <a:ext cx="7031736" cy="4745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C"/>
              </a:gs>
            </a:gsLst>
            <a:lin scaled="0" ang="150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gradFill rotWithShape="1">
            <a:gsLst>
              <a:gs pos="0">
                <a:srgbClr val="90E0EF"/>
              </a:gs>
              <a:gs pos="100000">
                <a:srgbClr val="E8F4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FF7A45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91695" cy="960120"/>
          </a:xfrm>
          <a:prstGeom prst="rect">
            <a:avLst/>
          </a:prstGeom>
          <a:gradFill rotWithShape="1">
            <a:gsLst>
              <a:gs pos="0">
                <a:srgbClr val="005F8C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Evaluate and operate — gate, not report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35640" y="320040"/>
            <a:ext cx="960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9/12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10 golden + 8 red-team cases — non-zero exit blocks merge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Model off → same options (degraded, not down)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Concurrent holds cannot oversell finite inventory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RCG Principal Engineer · Part 2 · Agentic Development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325880"/>
            <a:ext cx="7178040" cy="4892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-09-eval-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9032"/>
            <a:ext cx="7031736" cy="47457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C"/>
              </a:gs>
            </a:gsLst>
            <a:lin scaled="0" ang="150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gradFill rotWithShape="1">
            <a:gsLst>
              <a:gs pos="0">
                <a:srgbClr val="90E0EF"/>
              </a:gs>
              <a:gs pos="100000">
                <a:srgbClr val="E8F4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FF7A45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91695" cy="960120"/>
          </a:xfrm>
          <a:prstGeom prst="rect">
            <a:avLst/>
          </a:prstGeom>
          <a:gradFill rotWithShape="1">
            <a:gsLst>
              <a:gs pos="0">
                <a:srgbClr val="005F8C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Enablement — policy and pairing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35640" y="320040"/>
            <a:ext cx="960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10/12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Champions pair with skeptics; skeptics own guardrails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EMs get leadership view — is the investment sticking?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Open with blocked secrets and rework cost, not a model bake-off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RCG Principal Engineer · Part 2 · Agentic Development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325880"/>
            <a:ext cx="7178040" cy="4892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-10-enab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9032"/>
            <a:ext cx="7031736" cy="47457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C"/>
              </a:gs>
            </a:gsLst>
            <a:lin scaled="0" ang="150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gradFill rotWithShape="1">
            <a:gsLst>
              <a:gs pos="0">
                <a:srgbClr val="90E0EF"/>
              </a:gs>
              <a:gs pos="100000">
                <a:srgbClr val="E8F4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FF7A45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91695" cy="960120"/>
          </a:xfrm>
          <a:prstGeom prst="rect">
            <a:avLst/>
          </a:prstGeom>
          <a:gradFill rotWithShape="1">
            <a:gsLst>
              <a:gs pos="0">
                <a:srgbClr val="005F8C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Risks and kill criteria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35640" y="320040"/>
            <a:ext cx="960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11/12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Pause expansion if change-fail rises, secret leaks, review degrades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Kill guest feature if eval fails, hold oversells, or cost cap blown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Trade-off: slower first 30 days for an audit trail you can defend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RCG Principal Engineer · Part 2 · Agentic Development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325880"/>
            <a:ext cx="7178040" cy="4892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-11-kill-crite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9032"/>
            <a:ext cx="7031736" cy="47457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C"/>
              </a:gs>
            </a:gsLst>
            <a:lin scaled="0" ang="150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gradFill rotWithShape="1">
            <a:gsLst>
              <a:gs pos="0">
                <a:srgbClr val="90E0EF"/>
              </a:gs>
              <a:gs pos="100000">
                <a:srgbClr val="E8F4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FF7A45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91695" cy="960120"/>
          </a:xfrm>
          <a:prstGeom prst="rect">
            <a:avLst/>
          </a:prstGeom>
          <a:gradFill rotWithShape="1">
            <a:gsLst>
              <a:gs pos="0">
                <a:srgbClr val="005F8C"/>
              </a:gs>
              <a:gs pos="100000">
                <a:srgbClr val="0096C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35640" y="320040"/>
            <a:ext cx="960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12/12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Pilot mandate · Security/Legal/Audit time · Day-90 decision forum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00" b="1">
                <a:solidFill>
                  <a:srgbClr val="0096C7"/>
                </a:solidFill>
                <a:latin typeface="Calibri"/>
              </a:rPr>
              <a:t>●  </a:t>
            </a:r>
            <a:r>
              <a:rPr sz="1500" b="0">
                <a:solidFill>
                  <a:srgbClr val="334155"/>
                </a:solidFill>
                <a:latin typeface="Calibri"/>
              </a:rPr>
              <a:t>Transferable asset: operating model, not the cruise planner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RCG Principal Engineer · Part 2 · Agentic Development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325880"/>
            <a:ext cx="7178040" cy="4892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-12-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9032"/>
            <a:ext cx="7031736" cy="47457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